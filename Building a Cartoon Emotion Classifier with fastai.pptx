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76d7fde81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76d7fde81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76d7fde81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76d7fde81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76d7fde8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76d7fde8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6d7fde81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76d7fde81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6d7fde81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76d7fde81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76d7fde81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76d7fde81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76d7fde81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76d7fde81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6d7fde81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76d7fde81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76d7fde81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76d7fde8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76d7fde81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76d7fde81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NetanelWDS/DeepLearningHW1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400"/>
              <a:t>Building a Cartoon Emotion Classifier with fastai</a:t>
            </a:r>
            <a:endParaRPr sz="32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3227100"/>
            <a:ext cx="7688100" cy="15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Char char="●"/>
            </a:pPr>
            <a:r>
              <a:rPr b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Netanel Kuchma</a:t>
            </a:r>
            <a:br>
              <a:rPr i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0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Char char="●"/>
            </a:pPr>
            <a:r>
              <a:rPr b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r>
              <a:rPr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– Exercise 1</a:t>
            </a:r>
            <a:br>
              <a:rPr i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0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Char char="●"/>
            </a:pPr>
            <a:r>
              <a:rPr b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Image Classification with fastai</a:t>
            </a:r>
            <a:br>
              <a:rPr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Char char="●"/>
            </a:pPr>
            <a:r>
              <a:rPr b="1"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Repo:</a:t>
            </a:r>
            <a:r>
              <a:rPr lang="iw" sz="10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iw" sz="1075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https://github.com/NetanelWDS/DeepLearningHW1</a:t>
            </a:r>
            <a:endParaRPr sz="120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2200" y="2429500"/>
            <a:ext cx="1595701" cy="159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9500" y="3426100"/>
            <a:ext cx="1529100" cy="152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4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7650" y="128542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Problem Definition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09200" y="2130372"/>
            <a:ext cx="3991500" cy="217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iw" sz="1107">
                <a:solidFill>
                  <a:schemeClr val="dk2"/>
                </a:solidFill>
              </a:rPr>
              <a:t>Build a model that classifies cartoon faces into five emotions:</a:t>
            </a:r>
            <a:endParaRPr sz="1107">
              <a:solidFill>
                <a:schemeClr val="dk2"/>
              </a:solidFill>
            </a:endParaRPr>
          </a:p>
          <a:p>
            <a:pPr indent="-2890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52"/>
              <a:buFont typeface="Arial"/>
              <a:buChar char="●"/>
            </a:pPr>
            <a:r>
              <a:rPr lang="iw" sz="1107">
                <a:solidFill>
                  <a:schemeClr val="dk2"/>
                </a:solidFill>
              </a:rPr>
              <a:t>😊 Happy</a:t>
            </a:r>
            <a:br>
              <a:rPr lang="iw" sz="1107">
                <a:solidFill>
                  <a:schemeClr val="dk2"/>
                </a:solidFill>
              </a:rPr>
            </a:br>
            <a:endParaRPr sz="1107">
              <a:solidFill>
                <a:schemeClr val="dk2"/>
              </a:solidFill>
            </a:endParaRPr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2"/>
              <a:buFont typeface="Arial"/>
              <a:buChar char="●"/>
            </a:pPr>
            <a:r>
              <a:rPr lang="iw" sz="1107">
                <a:solidFill>
                  <a:schemeClr val="dk2"/>
                </a:solidFill>
              </a:rPr>
              <a:t>😢 Sad</a:t>
            </a:r>
            <a:br>
              <a:rPr lang="iw" sz="1107">
                <a:solidFill>
                  <a:schemeClr val="dk2"/>
                </a:solidFill>
              </a:rPr>
            </a:br>
            <a:endParaRPr sz="1107">
              <a:solidFill>
                <a:schemeClr val="dk2"/>
              </a:solidFill>
            </a:endParaRPr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2"/>
              <a:buFont typeface="Arial"/>
              <a:buChar char="●"/>
            </a:pPr>
            <a:r>
              <a:rPr lang="iw" sz="1107">
                <a:solidFill>
                  <a:schemeClr val="dk2"/>
                </a:solidFill>
              </a:rPr>
              <a:t>😡 Angry</a:t>
            </a:r>
            <a:br>
              <a:rPr lang="iw" sz="1107">
                <a:solidFill>
                  <a:schemeClr val="dk2"/>
                </a:solidFill>
              </a:rPr>
            </a:br>
            <a:endParaRPr sz="1107">
              <a:solidFill>
                <a:schemeClr val="dk2"/>
              </a:solidFill>
            </a:endParaRPr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2"/>
              <a:buFont typeface="Arial"/>
              <a:buChar char="●"/>
            </a:pPr>
            <a:r>
              <a:rPr lang="iw" sz="1107">
                <a:solidFill>
                  <a:schemeClr val="dk2"/>
                </a:solidFill>
              </a:rPr>
              <a:t>😮 Surprised</a:t>
            </a:r>
            <a:br>
              <a:rPr lang="iw" sz="1107">
                <a:solidFill>
                  <a:schemeClr val="dk2"/>
                </a:solidFill>
              </a:rPr>
            </a:br>
            <a:endParaRPr sz="1107">
              <a:solidFill>
                <a:schemeClr val="dk2"/>
              </a:solidFill>
            </a:endParaRPr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2"/>
              <a:buFont typeface="Arial"/>
              <a:buChar char="●"/>
            </a:pPr>
            <a:r>
              <a:rPr lang="iw" sz="1107">
                <a:solidFill>
                  <a:schemeClr val="dk2"/>
                </a:solidFill>
              </a:rPr>
              <a:t>😐 Neutral</a:t>
            </a:r>
            <a:endParaRPr sz="1107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007"/>
          </a:p>
        </p:txBody>
      </p:sp>
      <p:sp>
        <p:nvSpPr>
          <p:cNvPr id="96" name="Google Shape;96;p14"/>
          <p:cNvSpPr txBox="1"/>
          <p:nvPr/>
        </p:nvSpPr>
        <p:spPr>
          <a:xfrm>
            <a:off x="4903400" y="2138116"/>
            <a:ext cx="3862800" cy="21753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/>
              <a:t>Motivation</a:t>
            </a:r>
            <a:endParaRPr b="1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iw" sz="1100"/>
              <a:t>Helps autistic children practice understanding emotional expressions</a:t>
            </a:r>
            <a:br>
              <a:rPr lang="iw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w" sz="1100"/>
              <a:t>Cartoon faces are simpler, clearer, and less overwhelming than real faces</a:t>
            </a:r>
            <a:br>
              <a:rPr lang="iw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w" sz="1100"/>
              <a:t>Useful base model for future educational tools</a:t>
            </a:r>
            <a:br>
              <a:rPr lang="iw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w" sz="2540"/>
              <a:t>Why This Problem?</a:t>
            </a:r>
            <a:endParaRPr sz="2540"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125338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w" sz="1400">
                <a:solidFill>
                  <a:schemeClr val="dk2"/>
                </a:solidFill>
              </a:rPr>
              <a:t>Social-emotional understanding is challenging for some autistic children</a:t>
            </a:r>
            <a:br>
              <a:rPr lang="iw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w" sz="1400">
                <a:solidFill>
                  <a:schemeClr val="dk2"/>
                </a:solidFill>
              </a:rPr>
              <a:t>Cartoon-based learning is widely used in therapy</a:t>
            </a:r>
            <a:br>
              <a:rPr lang="iw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w" sz="1400">
                <a:solidFill>
                  <a:schemeClr val="dk2"/>
                </a:solidFill>
              </a:rPr>
              <a:t>No publicly available dataset matching this exact need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400" y="1928251"/>
            <a:ext cx="1805126" cy="295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Dataset Creation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images were collected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lang="iw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ddgs</a:t>
            </a: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(DuckDuckGo Search API) to download images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30+ diverse queries </a:t>
            </a:r>
            <a:r>
              <a:rPr i="1"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class</a:t>
            </a: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maximize variety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Downloaded ~108–133 images for each emotion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Stored in folders: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w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dataset/&lt;emotion&gt;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464355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irrelevant images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 images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PNGs with transparency</a:t>
            </a:r>
            <a:b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artistic styles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6625" y="727950"/>
            <a:ext cx="1624125" cy="178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9660000" dist="85725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w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Cleaning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690725" y="2047900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 sz="40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Cleaning Steps</a:t>
            </a:r>
            <a:endParaRPr b="1" sz="40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 corrupted images using PIL</a:t>
            </a:r>
            <a:b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 duplicates using SHA-1 hashing</a:t>
            </a:r>
            <a:b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Converted all images to RGB</a:t>
            </a:r>
            <a:b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Manually inspected for mislabeled/noisy images</a:t>
            </a:r>
            <a:b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 sz="40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Dataset</a:t>
            </a:r>
            <a:endParaRPr b="1" sz="40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~500–700 cleaned images</a:t>
            </a:r>
            <a:b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balanced classes</a:t>
            </a:r>
            <a:b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00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86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Ready for training</a:t>
            </a:r>
            <a:endParaRPr sz="386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60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4615"/>
              <a:buFont typeface="Arial"/>
              <a:buChar char="●"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025" y="1713290"/>
            <a:ext cx="4312626" cy="3100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4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Data Loading in fastai</a:t>
            </a:r>
            <a:endParaRPr sz="9200"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83650" y="18856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 sz="41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this does:</a:t>
            </a:r>
            <a:endParaRPr b="1" sz="41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 loads images</a:t>
            </a:r>
            <a:b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9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Extracts labels from folders</a:t>
            </a:r>
            <a:b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9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Splits into train/valid</a:t>
            </a:r>
            <a:b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9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Applies augmentations</a:t>
            </a:r>
            <a:b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9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95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Prepares batches for GPU</a:t>
            </a:r>
            <a:endParaRPr sz="395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 rotWithShape="1">
          <a:blip r:embed="rId3">
            <a:alphaModFix/>
          </a:blip>
          <a:srcRect b="5069" l="0" r="0" t="-5070"/>
          <a:stretch/>
        </p:blipFill>
        <p:spPr>
          <a:xfrm>
            <a:off x="4943975" y="91187"/>
            <a:ext cx="3834951" cy="46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w" sz="3600"/>
              <a:t> Model Training</a:t>
            </a:r>
            <a:endParaRPr sz="3600"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727800" y="1631313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 sz="3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1" sz="3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with </a:t>
            </a:r>
            <a:r>
              <a:rPr b="1"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ResNet34</a:t>
            </a:r>
            <a:br>
              <a:rPr b="1"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Pretrained on ImageNet</a:t>
            </a:r>
            <a:b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Fine-tuned for 5 emotion classes</a:t>
            </a:r>
            <a:b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w" sz="3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Process</a:t>
            </a:r>
            <a:endParaRPr b="1" sz="3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learn.lr_find()</a:t>
            </a:r>
            <a: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choose optimal learning rate</a:t>
            </a:r>
            <a:b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learn.fine_tune(5)</a:t>
            </a:r>
            <a: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training</a:t>
            </a:r>
            <a:b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accuracy as evaluation metric</a:t>
            </a:r>
            <a:br>
              <a:rPr lang="iw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0809" y="1461300"/>
            <a:ext cx="2204966" cy="16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6300" y="3420325"/>
            <a:ext cx="25050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0525" y="3952525"/>
            <a:ext cx="3162000" cy="8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1900" y="89234"/>
            <a:ext cx="1622778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5475" y="1531000"/>
            <a:ext cx="1992775" cy="16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3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Evaluation</a:t>
            </a:r>
            <a:endParaRPr sz="9100"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199100" y="1461113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717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●"/>
            </a:pP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performs well on </a:t>
            </a:r>
            <a: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surprised</a:t>
            </a: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●"/>
            </a:pP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confusions:</a:t>
            </a:r>
            <a:b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17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○"/>
            </a:pPr>
            <a: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Neutral ↔ Happy</a:t>
            </a:r>
            <a:b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17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○"/>
            </a:pPr>
            <a: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Angry ↔ Sad</a:t>
            </a:r>
            <a:b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●"/>
            </a:pP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“Neutral” is the hardest class — often ambiguous or visually similar to mild emotions.</a:t>
            </a:r>
            <a:b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●"/>
            </a:pP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Errors mostly come from </a:t>
            </a:r>
            <a:r>
              <a:rPr b="1"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subtle differences</a:t>
            </a: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cartoon expressions.</a:t>
            </a:r>
            <a:b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1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Arial"/>
              <a:buChar char="●"/>
            </a:pPr>
            <a: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accuracy is good, with clear room for improvement in separating similar emotions.</a:t>
            </a:r>
            <a:br>
              <a:rPr lang="iw" sz="9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017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900" y="350250"/>
            <a:ext cx="2404325" cy="21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801" y="2571750"/>
            <a:ext cx="3179923" cy="24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3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Example of good </a:t>
            </a:r>
            <a:r>
              <a:rPr lang="iw" sz="23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predictions</a:t>
            </a:r>
            <a:endParaRPr sz="9100"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050" y="1276975"/>
            <a:ext cx="5700026" cy="36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3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Example of bad predictions</a:t>
            </a:r>
            <a:endParaRPr sz="9100"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449" y="1472600"/>
            <a:ext cx="5276000" cy="35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Discussion of model weaknesses</a:t>
            </a:r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185850" y="1935975"/>
            <a:ext cx="79995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050">
                <a:highlight>
                  <a:srgbClr val="FFFFFF"/>
                </a:highlight>
              </a:rPr>
              <a:t>Although the model performed well, several weaknesses were observed: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050"/>
              <a:buAutoNum type="arabicPeriod"/>
            </a:pPr>
            <a:r>
              <a:rPr lang="iw" sz="1050">
                <a:highlight>
                  <a:srgbClr val="FFFFFF"/>
                </a:highlight>
              </a:rPr>
              <a:t>Ambiguous expressions Some cartoon faces contain traits of multiple emotions (e.g., neutral vs sad),</a:t>
            </a:r>
            <a:br>
              <a:rPr lang="iw" sz="1050">
                <a:highlight>
                  <a:srgbClr val="FFFFFF"/>
                </a:highlight>
              </a:rPr>
            </a:br>
            <a:r>
              <a:rPr lang="iw" sz="1050">
                <a:highlight>
                  <a:srgbClr val="FFFFFF"/>
                </a:highlight>
              </a:rPr>
              <a:t> making classification difficult even for humans.</a:t>
            </a:r>
            <a:br>
              <a:rPr lang="iw" sz="1050">
                <a:highlight>
                  <a:srgbClr val="FFFFFF"/>
                </a:highlight>
              </a:rPr>
            </a:b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iw" sz="1050">
                <a:highlight>
                  <a:srgbClr val="FFFFFF"/>
                </a:highlight>
              </a:rPr>
              <a:t>High variability in artistic style , This diversity increases generalization difficulty.</a:t>
            </a:r>
            <a:br>
              <a:rPr lang="iw" sz="1050">
                <a:highlight>
                  <a:srgbClr val="FFFFFF"/>
                </a:highlight>
              </a:rPr>
            </a:b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AutoNum type="arabicPeriod" startAt="3"/>
            </a:pPr>
            <a:r>
              <a:rPr lang="iw" sz="1050">
                <a:highlight>
                  <a:srgbClr val="FFFFFF"/>
                </a:highlight>
              </a:rPr>
              <a:t>Noise from web-scraped data Some downloaded images were mislabeled by search engines, despite cleaning.</a:t>
            </a:r>
            <a:br>
              <a:rPr lang="iw" sz="1050">
                <a:highlight>
                  <a:srgbClr val="FFFFFF"/>
                </a:highlight>
              </a:rPr>
            </a:b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AutoNum type="arabicPeriod" startAt="3"/>
            </a:pPr>
            <a:r>
              <a:rPr lang="iw" sz="1050">
                <a:highlight>
                  <a:srgbClr val="FFFFFF"/>
                </a:highlight>
              </a:rPr>
              <a:t>Limited dataset size ~100–150 images per class is good but not large. More data would improve accuracy.</a:t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5" y="696950"/>
            <a:ext cx="2124150" cy="21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